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" y="4389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5B5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BLOCK 2.1 / WHAT MAKES IT NETWORKED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8096" y="786384"/>
            <a:ext cx="7498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95" b="1" dirty="0">
                <a:solidFill>
                  <a:srgbClr val="14141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Не смешиваем task, context и behavior</a:t>
            </a:r>
            <a:endParaRPr lang="en-US" sz="2795" dirty="0"/>
          </a:p>
        </p:txBody>
      </p:sp>
      <p:sp>
        <p:nvSpPr>
          <p:cNvPr id="4" name="Text 2"/>
          <p:cNvSpPr/>
          <p:nvPr/>
        </p:nvSpPr>
        <p:spPr>
          <a:xfrm>
            <a:off x="768096" y="160020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Сначала отделяем тип механики от эффекта присутствия и поздних moat-слоев.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68096" y="20848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5B5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НЕ network effect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46520" y="208483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5B5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слоя для анализа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68096" y="2340864"/>
            <a:ext cx="2542032" cy="102412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248716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Marketing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50976" y="2871216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45B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28163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Покупает трафик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50976" y="3163824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45B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31089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 не увеличивает ценность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511296" y="2340864"/>
            <a:ext cx="2542032" cy="102412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75888" y="2487168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Scale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94176" y="2871216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45B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58768" y="28163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Дает эффективность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94176" y="3163824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45B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58768" y="31089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 не делает продукт сетевым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68096" y="3566160"/>
            <a:ext cx="2542032" cy="102412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371246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Lock-in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50976" y="4096512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45B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5568" y="40416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Удерживает выход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50976" y="4389120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45B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5568" y="433425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 не создает новую ценность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511296" y="3566160"/>
            <a:ext cx="2542032" cy="102412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75888" y="3712464"/>
            <a:ext cx="2212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Habit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694176" y="4096512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45B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58768" y="40416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Возвращает юзера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694176" y="4389120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45B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58768" y="433425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 может жить и без сети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446520" y="2340864"/>
            <a:ext cx="1591056" cy="153619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11112" y="248716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5B5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Intent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11112" y="281635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требует второго участника.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6611112" y="3127248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P2P, split, shared goal.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8202168" y="2340864"/>
            <a:ext cx="1591056" cy="153619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66760" y="248716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5B5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Context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66760" y="281635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создает контекст для другого.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366760" y="3127248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Чек, request, view, rule.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957816" y="2340864"/>
            <a:ext cx="1591056" cy="153619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122408" y="248716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5B5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Behavior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122408" y="2816352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Нужные люди уже внутри.</a:t>
            </a:r>
            <a:endParaRPr lang="en-US" sz="1080" dirty="0"/>
          </a:p>
        </p:txBody>
      </p:sp>
      <p:sp>
        <p:nvSpPr>
          <p:cNvPr id="42" name="Text 40"/>
          <p:cNvSpPr/>
          <p:nvPr/>
        </p:nvSpPr>
        <p:spPr>
          <a:xfrm>
            <a:off x="10122408" y="3127248"/>
            <a:ext cx="1261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 стал нормой.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6446520" y="4133088"/>
            <a:ext cx="4974336" cy="1261872"/>
          </a:xfrm>
          <a:prstGeom prst="roundRect">
            <a:avLst>
              <a:gd name="adj" fmla="val 10145"/>
            </a:avLst>
          </a:prstGeom>
          <a:solidFill>
            <a:srgbClr val="F8F6F3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11112" y="4279392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Later-stage amplifiers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6611112" y="4608576"/>
            <a:ext cx="4645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effect чаще усиливает банк, а не user-facing network value.</a:t>
            </a:r>
            <a:endParaRPr lang="en-US" sz="1120" dirty="0"/>
          </a:p>
        </p:txBody>
      </p:sp>
      <p:sp>
        <p:nvSpPr>
          <p:cNvPr id="46" name="Text 44"/>
          <p:cNvSpPr/>
          <p:nvPr/>
        </p:nvSpPr>
        <p:spPr>
          <a:xfrm>
            <a:off x="6611112" y="4919472"/>
            <a:ext cx="4645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/ standard effect обычно приходит после масштаба и дистрибуции.</a:t>
            </a:r>
            <a:endParaRPr lang="en-US" sz="1120" dirty="0"/>
          </a:p>
        </p:txBody>
      </p:sp>
      <p:sp>
        <p:nvSpPr>
          <p:cNvPr id="47" name="Shape 45"/>
          <p:cNvSpPr/>
          <p:nvPr/>
        </p:nvSpPr>
        <p:spPr>
          <a:xfrm>
            <a:off x="768096" y="6016752"/>
            <a:ext cx="10655503" cy="512064"/>
          </a:xfrm>
          <a:prstGeom prst="roundRect">
            <a:avLst>
              <a:gd name="adj" fmla="val 21429"/>
            </a:avLst>
          </a:prstGeom>
          <a:solidFill>
            <a:srgbClr val="F8F6F3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4400" y="610819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45B5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Что это значит для нашего кейса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255264" y="6108192"/>
            <a:ext cx="79854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Salmon стартовая ставка: intent-driven + context-driven в малой доверенной группе; behavioral pull должен появиться позже.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" y="4389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5B5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BLOCK 2.2 / CASES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8096" y="786384"/>
            <a:ext cx="7498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9" b="1" dirty="0">
                <a:solidFill>
                  <a:srgbClr val="14141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Сильные кейсы собирают слои последовательно</a:t>
            </a:r>
            <a:endParaRPr lang="en-US" sz="2509" dirty="0"/>
          </a:p>
        </p:txBody>
      </p:sp>
      <p:sp>
        <p:nvSpPr>
          <p:cNvPr id="4" name="Text 2"/>
          <p:cNvSpPr/>
          <p:nvPr/>
        </p:nvSpPr>
        <p:spPr>
          <a:xfrm>
            <a:off x="768096" y="160020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и тот же продукт может решать задачу, создавать контекст и затем превращаться в норму внутри круга.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8096" y="2286000"/>
            <a:ext cx="2651760" cy="1426464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432304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Splitwise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2761488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b="1" dirty="0">
                <a:solidFill>
                  <a:srgbClr val="F4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Слой: context-driven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932688" y="3072384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создает долг и структуру расчета.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932688" y="3383280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Другие заходят в уже готовый контекст.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3639312" y="2286000"/>
            <a:ext cx="2651760" cy="1426464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03904" y="2432304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M-Pesa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803904" y="2761488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b="1" dirty="0">
                <a:solidFill>
                  <a:srgbClr val="F4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Слой: intent-driven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3803904" y="3072384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Перевод закрывал реальную жизненную задачу.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3803904" y="3383280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use case тянул следующего участника.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6510528" y="2286000"/>
            <a:ext cx="2377440" cy="1426464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0" y="2432304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WhatsApp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75120" y="2761488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b="1" dirty="0">
                <a:solidFill>
                  <a:srgbClr val="F4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Слой: behavioral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6675120" y="3072384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Ценность = нужные люди уже внутри.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6675120" y="3383280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Присутствие сети удерживает продукт.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9107424" y="2286000"/>
            <a:ext cx="2313432" cy="1426464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72016" y="2432304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Venmo / WeChat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272016" y="2761488"/>
            <a:ext cx="1984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b="1" dirty="0">
                <a:solidFill>
                  <a:srgbClr val="F4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Слой: hybrid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9272016" y="3072384"/>
            <a:ext cx="1984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решает платеж.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9272016" y="3383280"/>
            <a:ext cx="1984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делает его социально видимым.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768096" y="3986784"/>
            <a:ext cx="10652760" cy="1609344"/>
          </a:xfrm>
          <a:prstGeom prst="roundRect">
            <a:avLst>
              <a:gd name="adj" fmla="val 7955"/>
            </a:avLst>
          </a:prstGeom>
          <a:solidFill>
            <a:srgbClr val="F8F6F3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4133088"/>
            <a:ext cx="10323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5B5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Общий паттерн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2688" y="4462272"/>
            <a:ext cx="10323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Value появляется уже в атомарной сети 2-5 человек.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32688" y="4773168"/>
            <a:ext cx="10323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Новый участник приходит не в пустой продукт, а в конкретную ситуацию.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32688" y="5084064"/>
            <a:ext cx="10323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Behavioral pull появляется не первым, а после серии повторяющихся действий.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68096" y="6016752"/>
            <a:ext cx="10655503" cy="512064"/>
          </a:xfrm>
          <a:prstGeom prst="roundRect">
            <a:avLst>
              <a:gd name="adj" fmla="val 21429"/>
            </a:avLst>
          </a:prstGeom>
          <a:solidFill>
            <a:srgbClr val="F8F6F3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610819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45B5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Что это значит для нашего кейса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255264" y="6108192"/>
            <a:ext cx="79854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нужен wedge, где intent и context работают сразу; behavioral layer должен возникнуть как следствие повторяющихся групповых действий.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" y="4389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5B5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BLOCK 2.2 / PLAYBOOK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8096" y="786384"/>
            <a:ext cx="7498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58" b="1" dirty="0">
                <a:solidFill>
                  <a:srgbClr val="14141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Cold start выигрывает плотность микросети</a:t>
            </a:r>
            <a:endParaRPr lang="en-US" sz="2758" dirty="0"/>
          </a:p>
        </p:txBody>
      </p:sp>
      <p:sp>
        <p:nvSpPr>
          <p:cNvPr id="4" name="Text 2"/>
          <p:cNvSpPr/>
          <p:nvPr/>
        </p:nvSpPr>
        <p:spPr>
          <a:xfrm>
            <a:off x="768096" y="160020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Ширина платформы не спасает, если ценность не появляется внутри малого network unit.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8096" y="2304288"/>
            <a:ext cx="2011680" cy="1883664"/>
          </a:xfrm>
          <a:prstGeom prst="roundRect">
            <a:avLst>
              <a:gd name="adj" fmla="val 6796"/>
            </a:avLst>
          </a:prstGeom>
          <a:solidFill>
            <a:srgbClr val="FFFFFF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46888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45B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53288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5B5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889504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Один узкий сценарий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273552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строить «соцсеть про деньги» с первого дня.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3026664" y="2304288"/>
            <a:ext cx="2011680" cy="1883664"/>
          </a:xfrm>
          <a:prstGeom prst="roundRect">
            <a:avLst>
              <a:gd name="adj" fmla="val 6796"/>
            </a:avLst>
          </a:prstGeom>
          <a:solidFill>
            <a:srgbClr val="FFFFFF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72968" y="246888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45B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253288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5B5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72968" y="2889504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Atomic network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172968" y="3273552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Ценность должна появляться уже в группе 2-5 человек.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5285232" y="2304288"/>
            <a:ext cx="2011680" cy="1883664"/>
          </a:xfrm>
          <a:prstGeom prst="roundRect">
            <a:avLst>
              <a:gd name="adj" fmla="val 6796"/>
            </a:avLst>
          </a:prstGeom>
          <a:solidFill>
            <a:srgbClr val="FFFFFF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31536" y="246888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45B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04688" y="253288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5B5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31536" y="2889504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Invite inside action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31536" y="3273552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Приглашение вшито в сценарий, а не живет отдельной кнопкой.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7543800" y="2304288"/>
            <a:ext cx="2011680" cy="1883664"/>
          </a:xfrm>
          <a:prstGeom prst="roundRect">
            <a:avLst>
              <a:gd name="adj" fmla="val 6796"/>
            </a:avLst>
          </a:prstGeom>
          <a:solidFill>
            <a:srgbClr val="FFFFFF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90104" y="246888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45B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63256" y="253288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5B5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690104" y="2889504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Import existing group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690104" y="3273552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Пара, семья, поездка, друзья, соседи.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9802368" y="2304288"/>
            <a:ext cx="2011680" cy="1883664"/>
          </a:xfrm>
          <a:prstGeom prst="roundRect">
            <a:avLst>
              <a:gd name="adj" fmla="val 6796"/>
            </a:avLst>
          </a:prstGeom>
          <a:solidFill>
            <a:srgbClr val="FFFFFF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48672" y="246888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45B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21824" y="2532888"/>
            <a:ext cx="1645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5B5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948672" y="2889504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Repeatable ritual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948672" y="3273552"/>
            <a:ext cx="17190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one-off split, а повторяемое действие с возвращением.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768096" y="4517136"/>
            <a:ext cx="5230368" cy="1078992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688" y="4663440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Marketing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32688" y="4992624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Линейно покупает следующий install.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32688" y="5303520"/>
            <a:ext cx="4901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отключения бюджета рост останавливается.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99632" y="4517136"/>
            <a:ext cx="5221224" cy="1078992"/>
          </a:xfrm>
          <a:prstGeom prst="roundRect">
            <a:avLst>
              <a:gd name="adj" fmla="val 11864"/>
            </a:avLst>
          </a:prstGeom>
          <a:solidFill>
            <a:srgbClr val="F8F6F3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64224" y="46634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5B5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Network effect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364224" y="499262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Каждое использование усиливает будущую ценность сети.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364224" y="530352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отключения маркетинга петля не умирает.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68096" y="6016752"/>
            <a:ext cx="10655503" cy="512064"/>
          </a:xfrm>
          <a:prstGeom prst="roundRect">
            <a:avLst>
              <a:gd name="adj" fmla="val 21429"/>
            </a:avLst>
          </a:prstGeom>
          <a:solidFill>
            <a:srgbClr val="F8F6F3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610819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45B5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Что это значит для нашего кейса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255264" y="6108192"/>
            <a:ext cx="79854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Стартовая ставка должна быть на один повторяемый intent-driven сценарий, усиленный context-driven value.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" y="4389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5B5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BLOCK 2.3 / FINTECH 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8096" y="786384"/>
            <a:ext cx="7498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141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Инфраструктура уже сетeвая, отношения между людьми — почти нет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68096" y="160020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gap не в платежных rails, а в том, что everyday group money до сих пор живет вне продукта.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8096" y="2304288"/>
            <a:ext cx="3246120" cy="2907792"/>
          </a:xfrm>
          <a:prstGeom prst="roundRect">
            <a:avLst>
              <a:gd name="adj" fmla="val 4403"/>
            </a:avLst>
          </a:prstGeom>
          <a:solidFill>
            <a:srgbClr val="FFFFFF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450592"/>
            <a:ext cx="2916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Где NE уже работает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50976" y="2834640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45B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15568" y="2779776"/>
            <a:ext cx="2715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6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Карточные сети</a:t>
            </a:r>
            <a:endParaRPr lang="en-US" sz="1160" dirty="0"/>
          </a:p>
        </p:txBody>
      </p:sp>
      <p:sp>
        <p:nvSpPr>
          <p:cNvPr id="9" name="Shape 7"/>
          <p:cNvSpPr/>
          <p:nvPr/>
        </p:nvSpPr>
        <p:spPr>
          <a:xfrm>
            <a:off x="950976" y="3200400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45B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3145536"/>
            <a:ext cx="2715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6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P2P внутри замкнутой сети</a:t>
            </a:r>
            <a:endParaRPr lang="en-US" sz="1160" dirty="0"/>
          </a:p>
        </p:txBody>
      </p:sp>
      <p:sp>
        <p:nvSpPr>
          <p:cNvPr id="11" name="Shape 9"/>
          <p:cNvSpPr/>
          <p:nvPr/>
        </p:nvSpPr>
        <p:spPr>
          <a:xfrm>
            <a:off x="950976" y="3566160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45B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5568" y="3511296"/>
            <a:ext cx="2715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6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Super-app payment loops</a:t>
            </a:r>
            <a:endParaRPr lang="en-US" sz="1160" dirty="0"/>
          </a:p>
        </p:txBody>
      </p:sp>
      <p:sp>
        <p:nvSpPr>
          <p:cNvPr id="13" name="Shape 11"/>
          <p:cNvSpPr/>
          <p:nvPr/>
        </p:nvSpPr>
        <p:spPr>
          <a:xfrm>
            <a:off x="950976" y="3931920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45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3877056"/>
            <a:ext cx="2715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6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Локальные split / group bill use cases</a:t>
            </a:r>
            <a:endParaRPr lang="en-US" sz="1160" dirty="0"/>
          </a:p>
        </p:txBody>
      </p:sp>
      <p:sp>
        <p:nvSpPr>
          <p:cNvPr id="15" name="Shape 13"/>
          <p:cNvSpPr/>
          <p:nvPr/>
        </p:nvSpPr>
        <p:spPr>
          <a:xfrm>
            <a:off x="4279392" y="2304288"/>
            <a:ext cx="4700016" cy="2907792"/>
          </a:xfrm>
          <a:prstGeom prst="roundRect">
            <a:avLst>
              <a:gd name="adj" fmla="val 4403"/>
            </a:avLst>
          </a:prstGeom>
          <a:solidFill>
            <a:srgbClr val="FFFFFF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43984" y="2450592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5B5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Где до сих пор пусто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462272" y="2834640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45B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26864" y="2779776"/>
            <a:ext cx="4169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Пары, семьи, travel-группы, соседи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62272" y="3246120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45B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26864" y="3191256"/>
            <a:ext cx="4169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expenses живут в чатах и заметках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62272" y="3657600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45B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6864" y="3602736"/>
            <a:ext cx="4169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social layer: группа, событие, fairness, history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62272" y="4069080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45B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26864" y="4014216"/>
            <a:ext cx="4169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Банки мыслят user -&gt; account, а не relationship -&gt; group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217152" y="2304288"/>
            <a:ext cx="2203704" cy="2907792"/>
          </a:xfrm>
          <a:prstGeom prst="roundRect">
            <a:avLst>
              <a:gd name="adj" fmla="val 5809"/>
            </a:avLst>
          </a:prstGeom>
          <a:solidFill>
            <a:srgbClr val="FFFFFF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81744" y="245059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Ограничения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400032" y="2834640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45B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64624" y="2779776"/>
            <a:ext cx="1673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KYC friction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9400032" y="3209544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45B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64624" y="3154680"/>
            <a:ext cx="1673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9400032" y="3584448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45B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64624" y="3529584"/>
            <a:ext cx="1673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pressure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9400032" y="3959352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45B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64624" y="3904488"/>
            <a:ext cx="1673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radius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9400032" y="4334256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45B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64624" y="4279392"/>
            <a:ext cx="1673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NE в больших группах</a:t>
            </a:r>
            <a:endParaRPr lang="en-US" sz="1120" dirty="0"/>
          </a:p>
        </p:txBody>
      </p:sp>
      <p:sp>
        <p:nvSpPr>
          <p:cNvPr id="37" name="Shape 35"/>
          <p:cNvSpPr/>
          <p:nvPr/>
        </p:nvSpPr>
        <p:spPr>
          <a:xfrm>
            <a:off x="768096" y="6016752"/>
            <a:ext cx="10655503" cy="512064"/>
          </a:xfrm>
          <a:prstGeom prst="roundRect">
            <a:avLst>
              <a:gd name="adj" fmla="val 21429"/>
            </a:avLst>
          </a:prstGeom>
          <a:solidFill>
            <a:srgbClr val="F8F6F3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610819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45B5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Что это значит для нашего кейса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255264" y="6108192"/>
            <a:ext cx="79854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white space не «еще один кошелек», а relationship layer для trusted groups поверх уже существующих денег и счетов.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" y="4389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5B5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BLOCK 2.4 / WHITE SPACE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8096" y="786384"/>
            <a:ext cx="7498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141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Социальные деньги: финансовое действие как социальный жест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68096" y="160020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публичная соцсеть про деньги, а слой координации, контекста и мягкой групповой динамики.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51376" y="2651760"/>
            <a:ext cx="3822192" cy="1353312"/>
          </a:xfrm>
          <a:prstGeom prst="roundRect">
            <a:avLst>
              <a:gd name="adj" fmla="val 9459"/>
            </a:avLst>
          </a:prstGeom>
          <a:solidFill>
            <a:srgbClr val="F8F6F3"/>
          </a:solidFill>
          <a:ln w="12700">
            <a:solidFill>
              <a:srgbClr val="F45B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38928" y="2880360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5B5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SOCIAL MONEY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462272" y="3273552"/>
            <a:ext cx="3182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Финансовое действие одновременно меняет баланс и состояние отношений.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68096" y="2286000"/>
            <a:ext cx="2514600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432304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Feed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32688" y="2761488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F4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соцсетей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932688" y="3072384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Реакции и group feed только внутри своего контекста.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906256" y="2286000"/>
            <a:ext cx="2514600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70848" y="2432304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Matching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070848" y="2761488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F4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маркетплейсов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9070848" y="3072384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заплатил, кто должен, кто подтверждает.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768096" y="4187952"/>
            <a:ext cx="2514600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4334256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Streaks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32688" y="4663440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F4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игр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932688" y="4974336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Progression, челленджи, unlocks для общих целей.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8906256" y="4187952"/>
            <a:ext cx="2514600" cy="1170432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70848" y="4334256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Workspace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70848" y="4663440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F4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SaaS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9070848" y="4974336"/>
            <a:ext cx="21854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view, роли и правила для группы.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224528" y="4681728"/>
            <a:ext cx="3675888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0" y="4828032"/>
            <a:ext cx="3346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Group context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389120" y="5157216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F4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community apps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4389120" y="5468112"/>
            <a:ext cx="3346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 живет внутри доверенной группы, а не в ленте на всех.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768096" y="6016752"/>
            <a:ext cx="10655503" cy="512064"/>
          </a:xfrm>
          <a:prstGeom prst="roundRect">
            <a:avLst>
              <a:gd name="adj" fmla="val 21429"/>
            </a:avLst>
          </a:prstGeom>
          <a:solidFill>
            <a:srgbClr val="F8F6F3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610819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45B5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Что это значит для нашего кейса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255264" y="6108192"/>
            <a:ext cx="79854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 решения: shared view + contextual split + recurring rituals; behavioral pull должен появляться из повторяемого использования.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" y="4389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5B5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BLOCK 2.5 /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8096" y="786384"/>
            <a:ext cx="7498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58" b="1" dirty="0">
                <a:solidFill>
                  <a:srgbClr val="14141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Intent и context первичны, behavior — следствие</a:t>
            </a:r>
            <a:endParaRPr lang="en-US" sz="2458" dirty="0"/>
          </a:p>
        </p:txBody>
      </p:sp>
      <p:sp>
        <p:nvSpPr>
          <p:cNvPr id="4" name="Text 2"/>
          <p:cNvSpPr/>
          <p:nvPr/>
        </p:nvSpPr>
        <p:spPr>
          <a:xfrm>
            <a:off x="768096" y="160020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Типология должна отделять способ создания ценности от более поздних усиливающих эффектов.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8096" y="2267712"/>
            <a:ext cx="3383280" cy="2578608"/>
          </a:xfrm>
          <a:prstGeom prst="roundRect">
            <a:avLst>
              <a:gd name="adj" fmla="val 4965"/>
            </a:avLst>
          </a:prstGeom>
          <a:solidFill>
            <a:srgbClr val="FFFFFF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414016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слоя анализа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2688" y="2743200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4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Intent-driven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3054096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Какая задача требует второго участника.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932688" y="3364992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4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Context-driven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2688" y="3749040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Какой контекст один создает для другого.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932688" y="4059936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4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32688" y="444398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нужные люди уже внутри и сценарий стал нормой.</a:t>
            </a:r>
            <a:endParaRPr lang="en-US" sz="1140" dirty="0"/>
          </a:p>
        </p:txBody>
      </p:sp>
      <p:sp>
        <p:nvSpPr>
          <p:cNvPr id="13" name="Shape 11"/>
          <p:cNvSpPr/>
          <p:nvPr/>
        </p:nvSpPr>
        <p:spPr>
          <a:xfrm>
            <a:off x="4407408" y="2267712"/>
            <a:ext cx="3419856" cy="2578608"/>
          </a:xfrm>
          <a:prstGeom prst="roundRect">
            <a:avLst>
              <a:gd name="adj" fmla="val 4965"/>
            </a:avLst>
          </a:prstGeom>
          <a:solidFill>
            <a:srgbClr val="F8F6F3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414016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45B5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Relationship-first primitives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2743200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-&gt; relationship -&gt; group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4572000" y="3054096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80" b="1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-&gt; shared view / rule -&gt; reaction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4572000" y="3364992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и Relationship должны быть first-class entities.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4572000" y="3675888"/>
            <a:ext cx="3090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account не нужен на старте; shared view дает меньше трения.</a:t>
            </a:r>
            <a:endParaRPr lang="en-US" sz="1140" dirty="0"/>
          </a:p>
        </p:txBody>
      </p:sp>
      <p:sp>
        <p:nvSpPr>
          <p:cNvPr id="19" name="Shape 17"/>
          <p:cNvSpPr/>
          <p:nvPr/>
        </p:nvSpPr>
        <p:spPr>
          <a:xfrm>
            <a:off x="8065008" y="2267712"/>
            <a:ext cx="3355848" cy="841248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2414016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Now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0" y="2743200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3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Split, shared view, group rules, recurring rituals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8065008" y="3255264"/>
            <a:ext cx="3355848" cy="749808"/>
          </a:xfrm>
          <a:prstGeom prst="roundRect">
            <a:avLst>
              <a:gd name="adj" fmla="val 17073"/>
            </a:avLst>
          </a:prstGeom>
          <a:solidFill>
            <a:srgbClr val="F8F6F3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0" y="3401568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45B5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Later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29600" y="3730752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1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pull, premium analytics, stronger money layer</a:t>
            </a:r>
            <a:endParaRPr lang="en-US" sz="1110" dirty="0"/>
          </a:p>
        </p:txBody>
      </p:sp>
      <p:sp>
        <p:nvSpPr>
          <p:cNvPr id="25" name="Shape 23"/>
          <p:cNvSpPr/>
          <p:nvPr/>
        </p:nvSpPr>
        <p:spPr>
          <a:xfrm>
            <a:off x="8065008" y="4151376"/>
            <a:ext cx="3355848" cy="841248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0" y="429768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1414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 not start with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29600" y="4626864"/>
            <a:ext cx="3026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1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account, public feed, credit layer, broad marketplace</a:t>
            </a:r>
            <a:endParaRPr lang="en-US" sz="1110" dirty="0"/>
          </a:p>
        </p:txBody>
      </p:sp>
      <p:sp>
        <p:nvSpPr>
          <p:cNvPr id="28" name="Shape 26"/>
          <p:cNvSpPr/>
          <p:nvPr/>
        </p:nvSpPr>
        <p:spPr>
          <a:xfrm>
            <a:off x="768096" y="6016752"/>
            <a:ext cx="10655503" cy="512064"/>
          </a:xfrm>
          <a:prstGeom prst="roundRect">
            <a:avLst>
              <a:gd name="adj" fmla="val 21429"/>
            </a:avLst>
          </a:prstGeom>
          <a:solidFill>
            <a:srgbClr val="F8F6F3"/>
          </a:solidFill>
          <a:ln w="12700">
            <a:solidFill>
              <a:srgbClr val="E3DF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610819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45B5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Что это значит для нашего кейса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255264" y="6108192"/>
            <a:ext cx="79854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14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должен сначала доказать силу task + context в малой группе; только потом имеет смысл наращивать behavioral layer и более сильные moat-эффекты.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Rounded MT 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Salmon test task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Salmon Network Effects - Block 2</dc:title>
  <dc:subject>Block 2 deck (salmon_direct_contrast_v1)</dc:subject>
  <dc:creator>Codex</dc:creator>
  <cp:lastModifiedBy>Codex</cp:lastModifiedBy>
  <cp:revision>1</cp:revision>
  <dcterms:created xsi:type="dcterms:W3CDTF">2026-03-20T13:44:31Z</dcterms:created>
  <dcterms:modified xsi:type="dcterms:W3CDTF">2026-03-20T13:44:31Z</dcterms:modified>
</cp:coreProperties>
</file>